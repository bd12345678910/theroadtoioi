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07" r:id="rId4"/>
    <p:sldId id="308" r:id="rId5"/>
    <p:sldId id="259" r:id="rId6"/>
    <p:sldId id="260" r:id="rId7"/>
    <p:sldId id="261" r:id="rId8"/>
    <p:sldId id="306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285" r:id="rId33"/>
    <p:sldId id="333" r:id="rId34"/>
    <p:sldId id="286" r:id="rId35"/>
    <p:sldId id="334" r:id="rId36"/>
    <p:sldId id="33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35023-02F1-40E3-A02B-EC709B136D55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93466-7D3E-40ED-AC90-9BE75317B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81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93466-7D3E-40ED-AC90-9BE75317B23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66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A5C88-68E1-B445-ED99-3491E2518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E0A6C7-FABC-A5A7-BA6F-7FB880F11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1074C4-257D-CA3E-649D-D38980C8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A325F-EF28-82A7-F4DA-92E6E465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C8121-B3DB-1B68-1E10-07B8D7E4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40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E7126-4DE7-50DF-8D14-548C6872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8EF5C-257F-23BE-573D-12815A717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F9795-3F25-8D91-93F5-68ED4643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0D43A-A673-2102-7D51-414EA169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4358F-2472-4C8F-C467-B0487816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5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8A926-0F7A-7BC5-1341-3F8F40A4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BCB3A-CB94-2355-5A32-A86652D8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B6CC35-0ABA-A22C-2635-7A922830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A5498-A798-5D43-AB85-BE6B219D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E4D3B-8997-AA60-D642-7C3DE2D5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43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B37E4-EE79-0E09-109A-3C032070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1FEF5D-52FD-01BF-0B6A-E28E6BB63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026493-038B-60B6-A46D-465DE4AF2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216B6A-8B30-574C-1096-56A951CF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74AF24-36AA-A6CA-AE20-74D2460E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117B69-BE3E-8CF0-3A4E-25E09BB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45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99AAD-60F1-2F9F-5B14-E0AFA1B5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13934-4A5A-C0FF-547E-696D10C66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5D6A0-DB91-DCB1-04FB-1FCDD6FF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B17125-1ABD-BDF9-DFAB-26B51430E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F6BC0-518F-399C-F231-807CD5DFC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51C2A7-F2E5-0B31-436B-052BCF57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D4FBC6-ED6B-98DB-E550-28B04037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961B5C-A0A7-E53E-4B0B-9AA10B6A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6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7464A-161C-288B-7D07-F646E817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D3F7AC-1729-554A-484B-0117A645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263C64-E5EA-665C-7BFE-A8C21F0E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60FA32-3EE5-EE5B-C32B-DAE2D9A6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93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A6F17F-83D1-0374-EB31-6B9C7476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A7759F-3994-1FBB-6999-8D2687A8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A6AB8-6D67-163B-D38A-89363570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24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C18BD-EE17-CC4A-2D71-95CFF109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81094-7F8B-F1A8-5396-CD2C301B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5BBB25-0BEE-C8F9-6565-04B6516F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63B5DC-7937-B37A-09B3-273F7C8D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7EBD97-0360-7B3B-72DF-0EA82642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5A5DAA-ACAB-1C58-B773-0B50D2A2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89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15A97-BD15-FDA9-8240-72ED4F84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FBF4E6-FFC6-8DED-6BFC-AC080A9CC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1A2347-C75A-1934-F6F8-F8D8A7052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759811-7B39-0E3C-1C50-E3AFAC7A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657C9D-9AB1-4CFB-6722-5968BC00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BA1A8-8D8B-A7F2-D989-95235509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20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132E-86F1-A567-8CB6-5E75E649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893414-B53C-6DF8-52C2-D5636F132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B0911-ACB8-96F5-5663-8B97BE32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215E3-74E0-5204-3E0A-CB4E5FD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E34D80-03FA-E711-9E08-00E577BF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46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4CF2F2-8326-8FB0-7D9F-6A313BD40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E097F2-1DC7-7782-775A-F6D98CB38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735D99-1956-0EDB-3736-03AEEF16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B2685-8556-D52B-1622-9165D66A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AD466-1C62-CF52-197E-0FC93F7B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23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F0F4B0-27DA-C8EB-ED6E-82EE24F91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17CF22-D799-C4C1-E47A-3AB828577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8DCD4D-E02E-6B57-CE23-BB85B56E4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0D551-D51E-43CE-B974-2897CF568CBC}" type="datetimeFigureOut">
              <a:rPr lang="zh-CN" altLang="en-US" smtClean="0"/>
              <a:t>2026-08-03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366E1-29B7-1448-5016-248BF04FC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B11E0-D633-B871-462F-404D8B79F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78122-00C5-409D-9CA0-69474C794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9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B065B-F974-67A9-4EA1-751F276FB5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杂</a:t>
            </a:r>
            <a:r>
              <a:rPr lang="en-US" altLang="zh-CN" dirty="0"/>
              <a:t>DP</a:t>
            </a:r>
            <a:r>
              <a:rPr lang="zh-CN" altLang="en-US" dirty="0"/>
              <a:t>选讲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3CC1FF-5CB2-6C50-9B67-37E3C2BC3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清华大学 金怀恩</a:t>
            </a:r>
          </a:p>
        </p:txBody>
      </p:sp>
    </p:spTree>
    <p:extLst>
      <p:ext uri="{BB962C8B-B14F-4D97-AF65-F5344CB8AC3E}">
        <p14:creationId xmlns:p14="http://schemas.microsoft.com/office/powerpoint/2010/main" val="265590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7ADFA-360D-AA44-A1AA-F912E6BB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计算几何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8A51B-9880-710B-A020-F0E806715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叉积。</a:t>
            </a:r>
            <a:endParaRPr lang="en-US" altLang="zh-CN" dirty="0"/>
          </a:p>
          <a:p>
            <a:r>
              <a:rPr lang="zh-CN" altLang="en-US" dirty="0"/>
              <a:t>凸包。</a:t>
            </a:r>
            <a:endParaRPr lang="en-US" altLang="zh-CN" dirty="0"/>
          </a:p>
          <a:p>
            <a:r>
              <a:rPr lang="zh-CN" altLang="en-US" dirty="0"/>
              <a:t>点在多边形内部。</a:t>
            </a:r>
            <a:endParaRPr lang="en-US" altLang="zh-CN" dirty="0"/>
          </a:p>
          <a:p>
            <a:r>
              <a:rPr lang="zh-CN" altLang="en-US" dirty="0"/>
              <a:t>旋转卡壳。</a:t>
            </a:r>
            <a:endParaRPr lang="en-US" altLang="zh-CN" dirty="0"/>
          </a:p>
          <a:p>
            <a:r>
              <a:rPr lang="zh-CN" altLang="en-US" dirty="0"/>
              <a:t>平面最近点对。</a:t>
            </a:r>
            <a:endParaRPr lang="en-US" altLang="zh-CN" dirty="0"/>
          </a:p>
          <a:p>
            <a:r>
              <a:rPr lang="zh-CN" altLang="en-US" dirty="0"/>
              <a:t>最小圆覆盖。</a:t>
            </a:r>
          </a:p>
        </p:txBody>
      </p:sp>
    </p:spTree>
    <p:extLst>
      <p:ext uri="{BB962C8B-B14F-4D97-AF65-F5344CB8AC3E}">
        <p14:creationId xmlns:p14="http://schemas.microsoft.com/office/powerpoint/2010/main" val="3816334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1C054-7EC0-4114-0D4C-CE261854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P3829 [SHOI2012] 信用卡凸包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0E514-F59E-0903-D6B9-123B01EB5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n&lt;=1e4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C8BC37-0FD2-D27D-F80E-A043F8496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809" y="1386142"/>
            <a:ext cx="7893184" cy="541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BC020-81A0-3F68-96F0-C8A01B08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P3829 [SHOI2012] 信用卡凸包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C96F9-178B-28AD-393D-8625B4D2D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直接求凸包，加上一个圆的周长就行。</a:t>
            </a:r>
          </a:p>
        </p:txBody>
      </p:sp>
    </p:spTree>
    <p:extLst>
      <p:ext uri="{BB962C8B-B14F-4D97-AF65-F5344CB8AC3E}">
        <p14:creationId xmlns:p14="http://schemas.microsoft.com/office/powerpoint/2010/main" val="17043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6CF2-6FE9-71CE-3FA1-82C0047C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8A57C04-C2BC-CD6D-09B0-5DF33FFD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54" y="0"/>
            <a:ext cx="50242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BD9EBBF-15CE-3410-0F23-E98B8EF6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P3260 [JLOI2014] 镜面通道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4A0ED8-BFBB-6417-BBA3-842D8A2E2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28" y="1387007"/>
            <a:ext cx="5942857" cy="4857143"/>
          </a:xfrm>
          <a:prstGeom prst="rect">
            <a:avLst/>
          </a:prstGeo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D239EF0-7157-BA3A-2591-927DD6C4C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656052" y="5954313"/>
            <a:ext cx="3478039" cy="5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7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ADFE1-4BCC-CC6A-155B-0BBB0BC6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P3260 [JLOI2014] 镜面通道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322DE-10DE-F13A-9630-C36B36E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等效于拿走最少的东西让上下不联通。</a:t>
            </a:r>
            <a:endParaRPr lang="en-US" altLang="zh-CN" dirty="0"/>
          </a:p>
          <a:p>
            <a:r>
              <a:rPr lang="zh-CN" altLang="en-US" dirty="0"/>
              <a:t>转化为最小割模型。</a:t>
            </a:r>
          </a:p>
        </p:txBody>
      </p:sp>
    </p:spTree>
    <p:extLst>
      <p:ext uri="{BB962C8B-B14F-4D97-AF65-F5344CB8AC3E}">
        <p14:creationId xmlns:p14="http://schemas.microsoft.com/office/powerpoint/2010/main" val="204591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87BFF-F89A-E482-5676-AB4A14B8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P10651 [ROI 2017] </a:t>
            </a:r>
            <a:r>
              <a:rPr lang="zh-CN" altLang="en-US" b="1" dirty="0"/>
              <a:t>虎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0AE4E-98EB-67F3-C99C-0E1ABC6C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 </a:t>
            </a:r>
            <a:r>
              <a:rPr lang="en-US" altLang="zh-CN" dirty="0"/>
              <a:t>n </a:t>
            </a:r>
            <a:r>
              <a:rPr lang="zh-CN" altLang="en-US" dirty="0"/>
              <a:t>个点和一个未知点，没有三点共线，每次可以查询这个未知点是否在一些已知点组成的凸包内，需要将这个未知点定位在一些已知点组成的凸包内，且这个凸包内没有其他已知点。</a:t>
            </a:r>
            <a:endParaRPr lang="en-US" altLang="zh-CN" dirty="0"/>
          </a:p>
          <a:p>
            <a:r>
              <a:rPr lang="en-US" altLang="zh-CN" dirty="0"/>
              <a:t>n&lt;=2500</a:t>
            </a:r>
            <a:r>
              <a:rPr lang="zh-CN" altLang="en-US" dirty="0"/>
              <a:t>，可以问 </a:t>
            </a:r>
            <a:r>
              <a:rPr lang="en-US" altLang="zh-CN" dirty="0"/>
              <a:t>40 </a:t>
            </a:r>
            <a:r>
              <a:rPr lang="zh-CN" altLang="en-US" dirty="0"/>
              <a:t>次。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791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074A1-581A-7A1F-3F18-E2659D24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P10651 [ROI 2017] </a:t>
            </a:r>
            <a:r>
              <a:rPr lang="zh-CN" altLang="en-US" b="1" dirty="0"/>
              <a:t>虎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70AC6-72B5-B340-B9F8-4F91C952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考虑将所有点按 </a:t>
            </a:r>
            <a:r>
              <a:rPr lang="en-US" altLang="zh-CN" dirty="0"/>
              <a:t>x </a:t>
            </a:r>
            <a:r>
              <a:rPr lang="zh-CN" altLang="en-US" dirty="0"/>
              <a:t>排序后求前缀凸包。由于没有三点共线，这些凸包一定顺次包含且互不相同。</a:t>
            </a:r>
            <a:endParaRPr lang="en-US" altLang="zh-CN" dirty="0"/>
          </a:p>
          <a:p>
            <a:r>
              <a:rPr lang="zh-CN" altLang="en-US" dirty="0"/>
              <a:t>先二分出在未知点在哪个凸包里，然后我们确定这玩意的可能位置会形如一个月牙，由一些三角形构成。</a:t>
            </a:r>
            <a:endParaRPr lang="en-US" altLang="zh-CN" dirty="0"/>
          </a:p>
          <a:p>
            <a:r>
              <a:rPr lang="zh-CN" altLang="en-US" dirty="0"/>
              <a:t>二分它出现在前</a:t>
            </a:r>
            <a:r>
              <a:rPr lang="en-US" altLang="zh-CN" dirty="0"/>
              <a:t> k </a:t>
            </a:r>
            <a:r>
              <a:rPr lang="zh-CN" altLang="en-US" dirty="0"/>
              <a:t>个三角形内。对于一次二分，查询包含这些三角形的最小凸包即可。多出来的部分一定在之前的前缀凸包内，未知点并不在那里。</a:t>
            </a:r>
            <a:endParaRPr lang="en-US" altLang="zh-CN" dirty="0"/>
          </a:p>
          <a:p>
            <a:r>
              <a:rPr lang="zh-CN" altLang="en-US" dirty="0"/>
              <a:t>次数非常宽松。</a:t>
            </a:r>
          </a:p>
        </p:txBody>
      </p:sp>
    </p:spTree>
    <p:extLst>
      <p:ext uri="{BB962C8B-B14F-4D97-AF65-F5344CB8AC3E}">
        <p14:creationId xmlns:p14="http://schemas.microsoft.com/office/powerpoint/2010/main" val="1103133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0FD0B-1093-D894-56A2-765E3AD5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决策单调性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042D1-8FBF-A2A8-8417-24353D2F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水很深。</a:t>
            </a:r>
            <a:endParaRPr lang="en-US" altLang="zh-CN" dirty="0"/>
          </a:p>
          <a:p>
            <a:r>
              <a:rPr lang="zh-CN" altLang="en-US" dirty="0"/>
              <a:t>这里主要讲一下二分队列和分治。</a:t>
            </a:r>
          </a:p>
        </p:txBody>
      </p:sp>
    </p:spTree>
    <p:extLst>
      <p:ext uri="{BB962C8B-B14F-4D97-AF65-F5344CB8AC3E}">
        <p14:creationId xmlns:p14="http://schemas.microsoft.com/office/powerpoint/2010/main" val="349064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2C2F9-6F59-30BD-239E-DE286924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四边形不等式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08D48-B05F-CD0C-8FFA-5A402EAF1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如果对于任意 </a:t>
            </a:r>
            <a:r>
              <a:rPr lang="en-US" altLang="zh-CN" dirty="0"/>
              <a:t>a&lt;=b&lt;=c&lt;=d</a:t>
            </a:r>
            <a:r>
              <a:rPr lang="zh-CN" altLang="en-US" dirty="0"/>
              <a:t> 有 </a:t>
            </a:r>
            <a:r>
              <a:rPr lang="en-US" altLang="zh-CN" dirty="0"/>
              <a:t>w(</a:t>
            </a:r>
            <a:r>
              <a:rPr lang="en-US" altLang="zh-CN" dirty="0" err="1"/>
              <a:t>a,c</a:t>
            </a:r>
            <a:r>
              <a:rPr lang="en-US" altLang="zh-CN" dirty="0"/>
              <a:t>)+w(</a:t>
            </a:r>
            <a:r>
              <a:rPr lang="en-US" altLang="zh-CN" dirty="0" err="1"/>
              <a:t>b,d</a:t>
            </a:r>
            <a:r>
              <a:rPr lang="en-US" altLang="zh-CN" dirty="0"/>
              <a:t>)&lt;=w(</a:t>
            </a:r>
            <a:r>
              <a:rPr lang="en-US" altLang="zh-CN" dirty="0" err="1"/>
              <a:t>a,d</a:t>
            </a:r>
            <a:r>
              <a:rPr lang="en-US" altLang="zh-CN" dirty="0"/>
              <a:t>)+w(</a:t>
            </a:r>
            <a:r>
              <a:rPr lang="en-US" altLang="zh-CN" dirty="0" err="1"/>
              <a:t>b,c</a:t>
            </a:r>
            <a:r>
              <a:rPr lang="en-US" altLang="zh-CN" dirty="0"/>
              <a:t>)</a:t>
            </a:r>
            <a:r>
              <a:rPr lang="zh-CN" altLang="en-US" dirty="0"/>
              <a:t>（交叉小于包含），则 </a:t>
            </a:r>
            <a:r>
              <a:rPr lang="en-US" altLang="zh-CN" dirty="0"/>
              <a:t>w </a:t>
            </a:r>
            <a:r>
              <a:rPr lang="zh-CN" altLang="en-US" dirty="0"/>
              <a:t>满足四边形不等式。</a:t>
            </a:r>
            <a:endParaRPr lang="en-US" altLang="zh-CN" dirty="0"/>
          </a:p>
          <a:p>
            <a:r>
              <a:rPr lang="zh-CN" altLang="en-US" dirty="0"/>
              <a:t>对于 </a:t>
            </a:r>
            <a:r>
              <a:rPr lang="zh-CN" altLang="zh-CN" dirty="0"/>
              <a:t>f</a:t>
            </a:r>
            <a:r>
              <a:rPr lang="en-US" altLang="zh-CN" dirty="0"/>
              <a:t>_</a:t>
            </a:r>
            <a:r>
              <a:rPr lang="zh-CN" altLang="zh-CN" dirty="0"/>
              <a:t>i=min</a:t>
            </a:r>
            <a:r>
              <a:rPr lang="en-US" altLang="zh-CN" dirty="0"/>
              <a:t>_{</a:t>
            </a:r>
            <a:r>
              <a:rPr lang="zh-CN" altLang="zh-CN" dirty="0"/>
              <a:t>0</a:t>
            </a:r>
            <a:r>
              <a:rPr lang="en-US" altLang="zh-CN" dirty="0"/>
              <a:t>&lt;=</a:t>
            </a:r>
            <a:r>
              <a:rPr lang="zh-CN" altLang="zh-CN" dirty="0"/>
              <a:t>j</a:t>
            </a:r>
            <a:r>
              <a:rPr lang="en-US" altLang="zh-CN" dirty="0"/>
              <a:t>&lt;</a:t>
            </a:r>
            <a:r>
              <a:rPr lang="zh-CN" altLang="zh-CN" dirty="0"/>
              <a:t>i</a:t>
            </a:r>
            <a:r>
              <a:rPr lang="en-US" altLang="zh-CN" dirty="0"/>
              <a:t>}</a:t>
            </a:r>
            <a:r>
              <a:rPr lang="zh-CN" altLang="zh-CN" dirty="0"/>
              <a:t>{f</a:t>
            </a:r>
            <a:r>
              <a:rPr lang="en-US" altLang="zh-CN" dirty="0"/>
              <a:t>_</a:t>
            </a:r>
            <a:r>
              <a:rPr lang="zh-CN" altLang="zh-CN" dirty="0"/>
              <a:t>j+w(j,i)}</a:t>
            </a:r>
            <a:r>
              <a:rPr lang="zh-CN" altLang="en-US" dirty="0"/>
              <a:t>，如果 </a:t>
            </a:r>
            <a:r>
              <a:rPr lang="en-US" altLang="zh-CN" dirty="0"/>
              <a:t>w </a:t>
            </a:r>
            <a:r>
              <a:rPr lang="zh-CN" altLang="en-US" dirty="0"/>
              <a:t>满足四边形不等式，那么 </a:t>
            </a:r>
            <a:r>
              <a:rPr lang="en-US" altLang="zh-CN" dirty="0"/>
              <a:t>f </a:t>
            </a:r>
            <a:r>
              <a:rPr lang="zh-CN" altLang="en-US" dirty="0"/>
              <a:t>满足决策单调性。</a:t>
            </a:r>
            <a:endParaRPr lang="en-US" altLang="zh-CN" dirty="0"/>
          </a:p>
          <a:p>
            <a:r>
              <a:rPr lang="zh-CN" altLang="en-US" dirty="0"/>
              <a:t>决策单调性可能有很多种来源，四边形不等式属于其中比较公式化的一种。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41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92243-3913-5B6C-8271-C54F45AC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E299D-6C4E-259C-BEB5-C9111CC54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 </a:t>
            </a:r>
            <a:r>
              <a:rPr lang="zh-CN" altLang="zh-CN" dirty="0"/>
              <a:t>f</a:t>
            </a:r>
            <a:r>
              <a:rPr lang="en-US" altLang="zh-CN" dirty="0"/>
              <a:t>_</a:t>
            </a:r>
            <a:r>
              <a:rPr lang="zh-CN" altLang="zh-CN" dirty="0"/>
              <a:t>i=min</a:t>
            </a:r>
            <a:r>
              <a:rPr lang="en-US" altLang="zh-CN" dirty="0"/>
              <a:t>_{</a:t>
            </a:r>
            <a:r>
              <a:rPr lang="zh-CN" altLang="zh-CN" dirty="0"/>
              <a:t>0</a:t>
            </a:r>
            <a:r>
              <a:rPr lang="en-US" altLang="zh-CN" dirty="0"/>
              <a:t>&lt;=</a:t>
            </a:r>
            <a:r>
              <a:rPr lang="zh-CN" altLang="zh-CN" dirty="0"/>
              <a:t>j</a:t>
            </a:r>
            <a:r>
              <a:rPr lang="en-US" altLang="zh-CN" dirty="0"/>
              <a:t>&lt;</a:t>
            </a:r>
            <a:r>
              <a:rPr lang="zh-CN" altLang="zh-CN" dirty="0"/>
              <a:t>i</a:t>
            </a:r>
            <a:r>
              <a:rPr lang="en-US" altLang="zh-CN" dirty="0"/>
              <a:t>}</a:t>
            </a:r>
            <a:r>
              <a:rPr lang="zh-CN" altLang="zh-CN" dirty="0"/>
              <a:t>{f</a:t>
            </a:r>
            <a:r>
              <a:rPr lang="en-US" altLang="zh-CN" dirty="0"/>
              <a:t>_</a:t>
            </a:r>
            <a:r>
              <a:rPr lang="zh-CN" altLang="zh-CN" dirty="0"/>
              <a:t>j+w(j,i)}</a:t>
            </a:r>
            <a:r>
              <a:rPr lang="zh-CN" altLang="en-US" dirty="0"/>
              <a:t>，且 </a:t>
            </a:r>
            <a:r>
              <a:rPr lang="en-US" altLang="zh-CN" dirty="0"/>
              <a:t>f </a:t>
            </a:r>
            <a:r>
              <a:rPr lang="zh-CN" altLang="en-US" dirty="0"/>
              <a:t>满足决策单调性，不难注意到每个 </a:t>
            </a:r>
            <a:r>
              <a:rPr lang="en-US" altLang="zh-CN" dirty="0"/>
              <a:t>j </a:t>
            </a:r>
            <a:r>
              <a:rPr lang="zh-CN" altLang="en-US" dirty="0"/>
              <a:t>作为最小的最优决策出现的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构成一个区间。</a:t>
            </a:r>
            <a:endParaRPr lang="en-US" altLang="zh-CN" dirty="0"/>
          </a:p>
          <a:p>
            <a:r>
              <a:rPr lang="zh-CN" altLang="en-US" dirty="0"/>
              <a:t>在加入决策 </a:t>
            </a:r>
            <a:r>
              <a:rPr lang="en-US" altLang="zh-CN" dirty="0"/>
              <a:t>j </a:t>
            </a:r>
            <a:r>
              <a:rPr lang="zh-CN" altLang="en-US" dirty="0"/>
              <a:t>的时候直接二分维护队列就行。</a:t>
            </a:r>
            <a:endParaRPr lang="en-US" altLang="zh-CN" dirty="0"/>
          </a:p>
          <a:p>
            <a:r>
              <a:rPr lang="zh-CN" altLang="en-US" dirty="0"/>
              <a:t>二分队列要求决策单调性而不只是最优决策单调性，注意区分。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72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A3EB3-4D66-D3C4-04D1-178C14C6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647A6-74BA-D763-DB11-DCBE9C7A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 </a:t>
            </a:r>
            <a:r>
              <a:rPr lang="en-US" altLang="zh-CN" dirty="0"/>
              <a:t>(</a:t>
            </a:r>
            <a:r>
              <a:rPr lang="en-US" altLang="zh-CN" dirty="0" err="1"/>
              <a:t>l,r</a:t>
            </a:r>
            <a:r>
              <a:rPr lang="en-US" altLang="zh-CN" dirty="0"/>
              <a:t>] </a:t>
            </a:r>
            <a:r>
              <a:rPr lang="zh-CN" altLang="en-US" dirty="0"/>
              <a:t>进行分治。假设此时 </a:t>
            </a:r>
            <a:r>
              <a:rPr lang="en-US" altLang="zh-CN" dirty="0"/>
              <a:t>[1,l] </a:t>
            </a:r>
            <a:r>
              <a:rPr lang="zh-CN" altLang="en-US" dirty="0"/>
              <a:t>的问题都已处理完毕，</a:t>
            </a:r>
            <a:r>
              <a:rPr lang="en-US" altLang="zh-CN" dirty="0"/>
              <a:t>[1,l] </a:t>
            </a:r>
            <a:r>
              <a:rPr lang="zh-CN" altLang="en-US" dirty="0"/>
              <a:t>的决策都已贡献到 </a:t>
            </a:r>
            <a:r>
              <a:rPr lang="en-US" altLang="zh-CN" dirty="0"/>
              <a:t>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找到区间中点 </a:t>
            </a:r>
            <a:r>
              <a:rPr lang="en-US" altLang="zh-CN" dirty="0"/>
              <a:t>mid</a:t>
            </a:r>
            <a:r>
              <a:rPr lang="zh-CN" altLang="en-US" dirty="0"/>
              <a:t>，从 </a:t>
            </a:r>
            <a:r>
              <a:rPr lang="en-US" altLang="zh-CN" dirty="0"/>
              <a:t>l </a:t>
            </a:r>
            <a:r>
              <a:rPr lang="zh-CN" altLang="en-US" dirty="0"/>
              <a:t>到 </a:t>
            </a:r>
            <a:r>
              <a:rPr lang="en-US" altLang="zh-CN" dirty="0"/>
              <a:t>r </a:t>
            </a:r>
            <a:r>
              <a:rPr lang="zh-CN" altLang="en-US" dirty="0"/>
              <a:t>的决策，用它们更新 </a:t>
            </a:r>
            <a:r>
              <a:rPr lang="en-US" altLang="zh-CN" dirty="0"/>
              <a:t>mid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递归 </a:t>
            </a:r>
            <a:r>
              <a:rPr lang="en-US" altLang="zh-CN" dirty="0"/>
              <a:t>(</a:t>
            </a:r>
            <a:r>
              <a:rPr lang="en-US" altLang="zh-CN" dirty="0" err="1"/>
              <a:t>l,mid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从 </a:t>
            </a:r>
            <a:r>
              <a:rPr lang="en-US" altLang="zh-CN" dirty="0"/>
              <a:t>l+1 </a:t>
            </a:r>
            <a:r>
              <a:rPr lang="zh-CN" altLang="en-US" dirty="0"/>
              <a:t>到 </a:t>
            </a:r>
            <a:r>
              <a:rPr lang="en-US" altLang="zh-CN" dirty="0"/>
              <a:t>mid</a:t>
            </a:r>
            <a:r>
              <a:rPr lang="zh-CN" altLang="en-US" dirty="0"/>
              <a:t>，用它们更新 </a:t>
            </a:r>
            <a:r>
              <a:rPr lang="en-US" altLang="zh-CN" dirty="0"/>
              <a:t>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递归 </a:t>
            </a:r>
            <a:r>
              <a:rPr lang="en-US" altLang="zh-CN" dirty="0"/>
              <a:t>(</a:t>
            </a:r>
            <a:r>
              <a:rPr lang="en-US" altLang="zh-CN" dirty="0" err="1"/>
              <a:t>mid,r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480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1BACF-072D-B918-3A01-4E19D52E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四边形不等式</a:t>
            </a:r>
            <a:r>
              <a:rPr lang="en-US" altLang="zh-CN" dirty="0"/>
              <a:t>-</a:t>
            </a:r>
            <a:r>
              <a:rPr lang="zh-CN" altLang="en-US" dirty="0"/>
              <a:t>二维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0964E8-4CF0-EE43-C5C2-C0E702A46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][j]=min(f[</a:t>
            </a:r>
            <a:r>
              <a:rPr lang="en-US" altLang="zh-CN" dirty="0" err="1"/>
              <a:t>i</a:t>
            </a:r>
            <a:r>
              <a:rPr lang="en-US" altLang="zh-CN" dirty="0"/>
              <a:t>][k]+f[k+1][j])+w(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当 </a:t>
            </a:r>
            <a:r>
              <a:rPr lang="en-US" altLang="zh-CN" dirty="0"/>
              <a:t>w </a:t>
            </a:r>
            <a:r>
              <a:rPr lang="zh-CN" altLang="en-US" dirty="0"/>
              <a:t>满足四边形不等式时，</a:t>
            </a:r>
            <a:r>
              <a:rPr lang="en-US" altLang="zh-CN" dirty="0"/>
              <a:t>f </a:t>
            </a:r>
            <a:r>
              <a:rPr lang="zh-CN" altLang="en-US" dirty="0"/>
              <a:t>也满足。</a:t>
            </a:r>
            <a:endParaRPr lang="en-US" altLang="zh-CN" dirty="0"/>
          </a:p>
          <a:p>
            <a:r>
              <a:rPr lang="zh-CN" altLang="en-US" dirty="0"/>
              <a:t>考虑最优决策 </a:t>
            </a:r>
            <a:r>
              <a:rPr lang="en-US" altLang="zh-CN" dirty="0"/>
              <a:t>p</a:t>
            </a:r>
            <a:r>
              <a:rPr lang="zh-CN" altLang="en-US" dirty="0"/>
              <a:t>，则 </a:t>
            </a:r>
            <a:r>
              <a:rPr lang="en-US" altLang="zh-CN" dirty="0"/>
              <a:t>p[</a:t>
            </a:r>
            <a:r>
              <a:rPr lang="en-US" altLang="zh-CN" dirty="0" err="1"/>
              <a:t>i</a:t>
            </a:r>
            <a:r>
              <a:rPr lang="en-US" altLang="zh-CN" dirty="0"/>
              <a:t>][j-1]&lt;=p[</a:t>
            </a:r>
            <a:r>
              <a:rPr lang="en-US" altLang="zh-CN" dirty="0" err="1"/>
              <a:t>i</a:t>
            </a:r>
            <a:r>
              <a:rPr lang="en-US" altLang="zh-CN" dirty="0"/>
              <a:t>][j]&lt;=p[i+1][j]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另外有一些二维决策单调性的问题可以直接分治。</a:t>
            </a:r>
          </a:p>
        </p:txBody>
      </p:sp>
    </p:spTree>
    <p:extLst>
      <p:ext uri="{BB962C8B-B14F-4D97-AF65-F5344CB8AC3E}">
        <p14:creationId xmlns:p14="http://schemas.microsoft.com/office/powerpoint/2010/main" val="404535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8C402-421B-E6E5-C2C9-0A8CCF17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P3515 [POI 2011] Lightning Conductor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EDF104-0595-D011-E28D-4677ADB2C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995" y="1908702"/>
            <a:ext cx="7253438" cy="45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1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A438-DF67-B9BA-945E-01E97ACB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09306-D42C-C1E0-A06B-68C0BEBF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P3515 [POI 2011] Lightning Conductor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16BFAB-1614-7BFA-D93F-2CB386DD6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注意到那个根号函数满足四边形不等式。</a:t>
            </a:r>
            <a:endParaRPr lang="en-US" altLang="zh-CN" dirty="0"/>
          </a:p>
          <a:p>
            <a:r>
              <a:rPr lang="zh-CN" altLang="en-US" dirty="0"/>
              <a:t>二分队列即可。</a:t>
            </a:r>
            <a:endParaRPr lang="en-US" altLang="zh-CN" dirty="0"/>
          </a:p>
          <a:p>
            <a:r>
              <a:rPr lang="zh-CN" altLang="en-US" dirty="0"/>
              <a:t>此外，由于本题函数形式特殊，二分队列时分界点可以 </a:t>
            </a:r>
            <a:r>
              <a:rPr lang="en-US" altLang="zh-CN" dirty="0"/>
              <a:t>O(1) </a:t>
            </a:r>
            <a:r>
              <a:rPr lang="zh-CN" altLang="en-US" dirty="0"/>
              <a:t>计算。</a:t>
            </a:r>
            <a:endParaRPr lang="en-US" altLang="zh-CN" dirty="0"/>
          </a:p>
          <a:p>
            <a:r>
              <a:rPr lang="zh-CN" altLang="en-US" dirty="0"/>
              <a:t>复杂度做到线性。</a:t>
            </a:r>
          </a:p>
        </p:txBody>
      </p:sp>
    </p:spTree>
    <p:extLst>
      <p:ext uri="{BB962C8B-B14F-4D97-AF65-F5344CB8AC3E}">
        <p14:creationId xmlns:p14="http://schemas.microsoft.com/office/powerpoint/2010/main" val="3621214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FFA25-CC36-6091-2BD3-2384465E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P4767 [IOI 2000] 邮局 加强版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E7E2E-58E5-254B-6BFB-66D38E167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要求 </a:t>
            </a:r>
            <a:r>
              <a:rPr lang="en-US" altLang="zh-CN" dirty="0"/>
              <a:t>O(PV)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CAA892-5BC2-7157-2975-0692B2D8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3031"/>
            <a:ext cx="9840016" cy="41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91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D411E-BA57-9490-7194-A017A2B5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CF868F Yet Another Minimization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CC1E18-34AD-ED79-3AFC-313F780F1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给定一个序列 </a:t>
            </a:r>
            <a:r>
              <a:rPr lang="en-US" altLang="zh-CN" dirty="0"/>
              <a:t>a</a:t>
            </a:r>
            <a:r>
              <a:rPr lang="zh-CN" altLang="zh-CN" dirty="0"/>
              <a:t>，要把它分成</a:t>
            </a:r>
            <a:r>
              <a:rPr lang="en-US" altLang="zh-CN" dirty="0"/>
              <a:t> k</a:t>
            </a:r>
            <a:r>
              <a:rPr lang="zh-CN" altLang="zh-CN" dirty="0"/>
              <a:t> 个子段。每个子段的费用是其中相同元素的对数。求所有子段的费用之和的最小值。</a:t>
            </a:r>
            <a:endParaRPr lang="en-US" altLang="zh-CN" dirty="0"/>
          </a:p>
          <a:p>
            <a:r>
              <a:rPr lang="en-US" altLang="zh-CN" dirty="0"/>
              <a:t>n&lt;=1e5</a:t>
            </a:r>
            <a:r>
              <a:rPr lang="zh-CN" altLang="en-US" dirty="0"/>
              <a:t>，</a:t>
            </a:r>
            <a:r>
              <a:rPr lang="en-US" altLang="zh-CN" dirty="0"/>
              <a:t>k&lt;=20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73377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576C3-E09C-5EB4-D517-97F0AB40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CF868F Yet Another Minimization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78FC7-0474-C862-718D-F8D9AA681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发现代价函数满足四边形不等式，但是没法快速求。</a:t>
            </a:r>
            <a:endParaRPr lang="en-US" altLang="zh-CN" dirty="0"/>
          </a:p>
          <a:p>
            <a:r>
              <a:rPr lang="zh-CN" altLang="en-US" dirty="0"/>
              <a:t>逐层分治即可。</a:t>
            </a:r>
          </a:p>
        </p:txBody>
      </p:sp>
    </p:spTree>
    <p:extLst>
      <p:ext uri="{BB962C8B-B14F-4D97-AF65-F5344CB8AC3E}">
        <p14:creationId xmlns:p14="http://schemas.microsoft.com/office/powerpoint/2010/main" val="3441745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EA80B-8BFC-E44A-D294-34C86AE7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WQS </a:t>
            </a:r>
            <a:r>
              <a:rPr lang="zh-CN" altLang="en-US" dirty="0"/>
              <a:t>二分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06711-FA74-69D7-7E2D-353161323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直线切凸壳。</a:t>
            </a:r>
          </a:p>
        </p:txBody>
      </p:sp>
    </p:spTree>
    <p:extLst>
      <p:ext uri="{BB962C8B-B14F-4D97-AF65-F5344CB8AC3E}">
        <p14:creationId xmlns:p14="http://schemas.microsoft.com/office/powerpoint/2010/main" val="329010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04DD2-4BC3-5127-973F-D34DA9D9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P2619 [国家集训队] Tree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3CC8C-4032-3A67-BAE6-8D538FC4A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给你一个无向带权连通图，每条边是黑色或白色。让你求一棵最小权的恰好有</a:t>
            </a:r>
            <a:r>
              <a:rPr lang="en-US" altLang="zh-CN" dirty="0"/>
              <a:t> need </a:t>
            </a:r>
            <a:r>
              <a:rPr lang="zh-CN" altLang="zh-CN" dirty="0"/>
              <a:t>条白色边的生成树。</a:t>
            </a:r>
          </a:p>
          <a:p>
            <a:r>
              <a:rPr lang="zh-CN" altLang="zh-CN" dirty="0"/>
              <a:t>题目保证有解。</a:t>
            </a:r>
          </a:p>
          <a:p>
            <a:r>
              <a:rPr lang="en-US" altLang="zh-CN" dirty="0"/>
              <a:t>n&lt;=5e4</a:t>
            </a:r>
            <a:r>
              <a:rPr lang="zh-CN" altLang="en-US" dirty="0"/>
              <a:t>，</a:t>
            </a:r>
            <a:r>
              <a:rPr lang="en-US" altLang="zh-CN" dirty="0"/>
              <a:t>m&lt;=1e5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96673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2CA8E-9EEF-DEB1-75F5-42D52921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P2619 [国家集训队] Tree 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C1C7F-5CAA-3B0B-F79C-0026D6A42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二分每条边边权加了多少即可。</a:t>
            </a:r>
          </a:p>
        </p:txBody>
      </p:sp>
    </p:spTree>
    <p:extLst>
      <p:ext uri="{BB962C8B-B14F-4D97-AF65-F5344CB8AC3E}">
        <p14:creationId xmlns:p14="http://schemas.microsoft.com/office/powerpoint/2010/main" val="2687952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3C22D-2535-89D4-A454-D3531308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P6246 [IOI 2000] 邮局 加强版 加强版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6176DC-FB40-77C0-509B-E9AF1432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6" y="1537398"/>
            <a:ext cx="11965971" cy="30879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4B2642-77C5-865B-E0B6-84800ED0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" y="4625391"/>
            <a:ext cx="12104915" cy="154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4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258AD-5BB7-B310-542C-AC297975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P6246 [IOI 2000] 邮局 加强版 加强版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2A61A3-14E1-427F-3BF2-A624B87ED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给每一段加权来满足恰好 </a:t>
            </a:r>
            <a:r>
              <a:rPr lang="en-US" altLang="zh-CN" dirty="0"/>
              <a:t>k </a:t>
            </a:r>
            <a:r>
              <a:rPr lang="zh-CN" altLang="en-US" dirty="0"/>
              <a:t>段。</a:t>
            </a:r>
            <a:endParaRPr lang="en-US" altLang="zh-CN" dirty="0"/>
          </a:p>
          <a:p>
            <a:r>
              <a:rPr lang="zh-CN" altLang="en-US" dirty="0"/>
              <a:t>加的权可以 </a:t>
            </a:r>
            <a:r>
              <a:rPr lang="en-US" altLang="zh-CN" dirty="0" err="1"/>
              <a:t>wqs</a:t>
            </a:r>
            <a:r>
              <a:rPr lang="en-US" altLang="zh-CN" dirty="0"/>
              <a:t> </a:t>
            </a:r>
            <a:r>
              <a:rPr lang="zh-CN" altLang="en-US" dirty="0"/>
              <a:t>二分。</a:t>
            </a:r>
            <a:endParaRPr lang="en-US" altLang="zh-CN" dirty="0"/>
          </a:p>
          <a:p>
            <a:r>
              <a:rPr lang="zh-CN" altLang="en-US" dirty="0"/>
              <a:t>随后二分队列即可。</a:t>
            </a:r>
          </a:p>
        </p:txBody>
      </p:sp>
    </p:spTree>
    <p:extLst>
      <p:ext uri="{BB962C8B-B14F-4D97-AF65-F5344CB8AC3E}">
        <p14:creationId xmlns:p14="http://schemas.microsoft.com/office/powerpoint/2010/main" val="2220677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60DF1-1D86-6CF8-B1E8-81C9EFE9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Slope trick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27AABB-25BF-B3C3-51F3-D8D6F675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维护斜率段。</a:t>
            </a:r>
          </a:p>
        </p:txBody>
      </p:sp>
    </p:spTree>
    <p:extLst>
      <p:ext uri="{BB962C8B-B14F-4D97-AF65-F5344CB8AC3E}">
        <p14:creationId xmlns:p14="http://schemas.microsoft.com/office/powerpoint/2010/main" val="2854845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1403A-1848-BAC8-6A0A-DF07EA05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AT_dwango2016qual_e 花火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84A1EB-22CC-B4D0-5BA9-CF93CC4F1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35" y="2240782"/>
            <a:ext cx="11867729" cy="205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2209-C41E-1EEC-1496-4FFC863E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B49CAFA-E094-1518-E961-66B9A0621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089" y="3065584"/>
            <a:ext cx="7100911" cy="35609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6D33DE6-06B6-6012-C59A-44B125CA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AT_dwango2016qual_e 花火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9D00C4-8057-E064-D399-E5B47AA9C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][j]=min_{k&lt;=j}{f[i-1][k]}+|p[</a:t>
            </a:r>
            <a:r>
              <a:rPr lang="en-US" altLang="zh-CN" dirty="0" err="1"/>
              <a:t>i</a:t>
            </a:r>
            <a:r>
              <a:rPr lang="en-US" altLang="zh-CN" dirty="0"/>
              <a:t>]-j|</a:t>
            </a:r>
          </a:p>
          <a:p>
            <a:r>
              <a:rPr lang="zh-CN" altLang="en-US" dirty="0"/>
              <a:t>不难证明 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是凸函数。</a:t>
            </a:r>
            <a:endParaRPr lang="en-US" altLang="zh-CN" dirty="0"/>
          </a:p>
          <a:p>
            <a:r>
              <a:rPr lang="zh-CN" altLang="en-US" dirty="0"/>
              <a:t>前缀求 </a:t>
            </a:r>
            <a:r>
              <a:rPr lang="en-US" altLang="zh-CN" dirty="0"/>
              <a:t>min </a:t>
            </a:r>
            <a:r>
              <a:rPr lang="zh-CN" altLang="en-US" dirty="0"/>
              <a:t>就是后缀推平。</a:t>
            </a:r>
          </a:p>
        </p:txBody>
      </p:sp>
    </p:spTree>
    <p:extLst>
      <p:ext uri="{BB962C8B-B14F-4D97-AF65-F5344CB8AC3E}">
        <p14:creationId xmlns:p14="http://schemas.microsoft.com/office/powerpoint/2010/main" val="672040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02446-92BC-411A-6515-321E7797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CF280E Sequence Transformation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459639-5DC8-3A8D-B41C-E298FC46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n&lt;=6000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6E0DFA-A4E1-F21D-2FA8-FDEA683C9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77" y="2773543"/>
            <a:ext cx="11337645" cy="230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45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F742A-CF5B-02A9-98D1-5021CE84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CF280E Sequence Transformation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DF594-93B3-BADC-E562-CC029BB16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][j]=min_{j-b&lt;=k&lt;=j-a}{f[i-1][k]}+(x[</a:t>
            </a:r>
            <a:r>
              <a:rPr lang="en-US" altLang="zh-CN" dirty="0" err="1"/>
              <a:t>i</a:t>
            </a:r>
            <a:r>
              <a:rPr lang="en-US" altLang="zh-CN" dirty="0"/>
              <a:t>]-j)^2</a:t>
            </a:r>
          </a:p>
          <a:p>
            <a:r>
              <a:rPr lang="zh-CN" altLang="en-US" dirty="0"/>
              <a:t>注意到 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是一个凸函数。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/>
              <a:t>slope-trick </a:t>
            </a:r>
            <a:r>
              <a:rPr lang="zh-CN" altLang="en-US" dirty="0"/>
              <a:t>刻画斜率段。</a:t>
            </a:r>
            <a:endParaRPr lang="en-US" altLang="zh-CN" dirty="0"/>
          </a:p>
          <a:p>
            <a:r>
              <a:rPr lang="zh-CN" altLang="en-US" dirty="0"/>
              <a:t>平衡树维护即可。需要支持一些形如函数平移和整体加一次函数的操作。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8343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7BDFE-484C-EA4F-C6D5-C23B7E2C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 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CE503-909B-A496-4F6A-A999EF72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本质上和 </a:t>
            </a:r>
            <a:r>
              <a:rPr lang="en-US" altLang="zh-CN" dirty="0"/>
              <a:t>DP </a:t>
            </a:r>
            <a:r>
              <a:rPr lang="zh-CN" altLang="en-US" dirty="0"/>
              <a:t>关系已经比较远了。</a:t>
            </a:r>
            <a:endParaRPr lang="en-US" altLang="zh-CN" dirty="0"/>
          </a:p>
          <a:p>
            <a:r>
              <a:rPr lang="zh-CN" altLang="en-US" dirty="0"/>
              <a:t>推荐学习 </a:t>
            </a:r>
            <a:r>
              <a:rPr lang="en-US" altLang="zh-CN" dirty="0"/>
              <a:t>GBT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52999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6EE3-7790-77DC-3F85-509E4963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P4719 【模板】动态 DP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FC9C2C-B8C3-79B7-2BE2-763B9A04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静态树，点带权，支持单点修改、查询全局最大独立集。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2488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B33ED-6EF4-678D-97A2-0CABBF03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P8820 [CSP-S 2022] 数据传输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23F36-6A17-34D2-A1E2-AB2F50B35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n,q</a:t>
            </a:r>
            <a:r>
              <a:rPr lang="en-US" altLang="zh-CN" dirty="0"/>
              <a:t>&lt;=2e5</a:t>
            </a:r>
            <a:r>
              <a:rPr lang="zh-CN" altLang="en-US" dirty="0"/>
              <a:t>，</a:t>
            </a:r>
            <a:r>
              <a:rPr lang="en-US" altLang="zh-CN" dirty="0"/>
              <a:t>k&lt;=3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99FC50-994B-CE31-7968-0E79B6E8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18" y="2335698"/>
            <a:ext cx="8694402" cy="442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06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212F8-497B-0279-F115-431FE99C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P8820 [CSP-S 2022] 数据传输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C463F-A6BA-401C-0DAE-7292E7657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zh-CN" altLang="en-US" dirty="0"/>
              <a:t>当 </a:t>
            </a:r>
            <a:r>
              <a:rPr lang="en-US" altLang="zh-CN" dirty="0"/>
              <a:t>k</a:t>
            </a:r>
            <a:r>
              <a:rPr lang="zh-CN" altLang="en-US" dirty="0"/>
              <a:t>≤</a:t>
            </a:r>
            <a:r>
              <a:rPr lang="en-US" altLang="zh-CN" dirty="0"/>
              <a:t>2</a:t>
            </a:r>
            <a:r>
              <a:rPr lang="zh-CN" altLang="en-US" dirty="0"/>
              <a:t>，一定只会涉及路径上的点。</a:t>
            </a:r>
            <a:endParaRPr lang="en-US" altLang="zh-CN" dirty="0"/>
          </a:p>
          <a:p>
            <a:r>
              <a:rPr lang="zh-CN" altLang="en-US" dirty="0"/>
              <a:t>这是因为涉及路径之外的点回来的过程可以被替换。</a:t>
            </a:r>
            <a:endParaRPr lang="en-US" altLang="zh-CN" dirty="0"/>
          </a:p>
          <a:p>
            <a:r>
              <a:rPr lang="zh-CN" altLang="en-US" dirty="0"/>
              <a:t>此时是一个 </a:t>
            </a:r>
            <a:r>
              <a:rPr lang="en-US" altLang="zh-CN" dirty="0" err="1"/>
              <a:t>f_i</a:t>
            </a:r>
            <a:r>
              <a:rPr lang="en-US" altLang="zh-CN" dirty="0"/>
              <a:t>=min(f_{i-1},f_{i-2})+</a:t>
            </a:r>
            <a:r>
              <a:rPr lang="en-US" altLang="zh-CN" dirty="0" err="1"/>
              <a:t>a_i</a:t>
            </a:r>
            <a:r>
              <a:rPr lang="en-US" altLang="zh-CN" dirty="0"/>
              <a:t> </a:t>
            </a:r>
            <a:r>
              <a:rPr lang="zh-CN" altLang="en-US" dirty="0"/>
              <a:t>的形式，典型的 </a:t>
            </a:r>
            <a:r>
              <a:rPr lang="en-US" altLang="zh-CN" dirty="0"/>
              <a:t>DP </a:t>
            </a:r>
            <a:r>
              <a:rPr lang="zh-CN" altLang="en-US" dirty="0"/>
              <a:t>矩阵。</a:t>
            </a:r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k=3</a:t>
            </a:r>
            <a:r>
              <a:rPr lang="zh-CN" altLang="en-US" dirty="0"/>
              <a:t>，类似地，一定只会涉及和路径距离不超过 </a:t>
            </a:r>
            <a:r>
              <a:rPr lang="en-US" altLang="zh-CN" dirty="0"/>
              <a:t>1 </a:t>
            </a:r>
            <a:r>
              <a:rPr lang="zh-CN" altLang="en-US" dirty="0"/>
              <a:t>的点。</a:t>
            </a:r>
            <a:endParaRPr lang="en-US" altLang="zh-CN" dirty="0"/>
          </a:p>
          <a:p>
            <a:r>
              <a:rPr lang="zh-CN" altLang="en-US" dirty="0"/>
              <a:t>设 </a:t>
            </a:r>
            <a:r>
              <a:rPr lang="en-US" altLang="zh-CN" dirty="0" err="1"/>
              <a:t>b_i</a:t>
            </a:r>
            <a:r>
              <a:rPr lang="en-US" altLang="zh-CN" dirty="0"/>
              <a:t> </a:t>
            </a:r>
            <a:r>
              <a:rPr lang="zh-CN" altLang="en-US" dirty="0"/>
              <a:t>表示点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邻居的最小权值，</a:t>
            </a:r>
            <a:r>
              <a:rPr lang="en-US" altLang="zh-CN" dirty="0"/>
              <a:t>f_{i,0/1} </a:t>
            </a:r>
            <a:r>
              <a:rPr lang="zh-CN" altLang="en-US" dirty="0"/>
              <a:t>表示跳到 </a:t>
            </a:r>
            <a:r>
              <a:rPr lang="en-US" altLang="zh-CN" dirty="0" err="1"/>
              <a:t>i</a:t>
            </a:r>
            <a:r>
              <a:rPr lang="en-US" altLang="zh-CN" dirty="0"/>
              <a:t>/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的最小权邻居的最小代价，那么有：</a:t>
            </a:r>
            <a:endParaRPr lang="en-US" altLang="zh-CN" dirty="0"/>
          </a:p>
          <a:p>
            <a:r>
              <a:rPr lang="en-US" altLang="zh-CN" dirty="0"/>
              <a:t>1. f_{i,0}=min(f_{i-1,0},f_{i-1,1},f_{i-2,0},f_{i-2,1},f_{i-3,0})+a[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r>
              <a:rPr lang="en-US" altLang="zh-CN" dirty="0"/>
              <a:t>2. f_{i,1}=min(f_{i-1,0},f_{i-1,1},f_{i-2,0})+b[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</a:p>
          <a:p>
            <a:r>
              <a:rPr lang="zh-CN" altLang="en-US" dirty="0"/>
              <a:t>已经可以维护矩阵了，但矩阵是 </a:t>
            </a:r>
            <a:r>
              <a:rPr lang="en-US" altLang="zh-CN" dirty="0"/>
              <a:t>5*5 </a:t>
            </a:r>
            <a:r>
              <a:rPr lang="zh-CN" altLang="en-US" dirty="0"/>
              <a:t>的，有点慢</a:t>
            </a:r>
            <a:r>
              <a:rPr lang="en-US" altLang="zh-CN" dirty="0"/>
              <a:t>……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zh-CN" altLang="en-US" dirty="0"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3493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FA7644F-A75C-613E-FDE1-36E7A824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65" y="3837400"/>
            <a:ext cx="3333853" cy="5748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EAB9995-D1B5-9AEE-7A53-EC0AD7E1D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9" y="1825625"/>
            <a:ext cx="11779602" cy="162142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77F8EC8-3D0D-4438-CA1A-8CF1F563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P8820 [CSP-S 2022] 数据传输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82351-FC95-B560-3A3E-731FDAA2C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具体而言：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后面那个矩阵对每个点独立。</a:t>
            </a:r>
            <a:endParaRPr lang="en-US" altLang="zh-CN" dirty="0"/>
          </a:p>
          <a:p>
            <a:r>
              <a:rPr lang="zh-CN" altLang="en-US" dirty="0"/>
              <a:t>路径查 </a:t>
            </a:r>
            <a:r>
              <a:rPr lang="en-US" altLang="zh-CN" dirty="0"/>
              <a:t>(min,+) </a:t>
            </a:r>
            <a:r>
              <a:rPr lang="zh-CN" altLang="en-US" dirty="0"/>
              <a:t>积即可。</a:t>
            </a:r>
            <a:endParaRPr lang="en-US" altLang="zh-CN" dirty="0"/>
          </a:p>
          <a:p>
            <a:r>
              <a:rPr lang="zh-CN" altLang="en-US" dirty="0"/>
              <a:t>具体而言，用                                      作为初始向量，从 </a:t>
            </a:r>
            <a:r>
              <a:rPr lang="en-US" altLang="zh-CN" dirty="0"/>
              <a:t>u </a:t>
            </a:r>
            <a:r>
              <a:rPr lang="zh-CN" altLang="en-US" dirty="0"/>
              <a:t>到 </a:t>
            </a:r>
            <a:r>
              <a:rPr lang="en-US" altLang="zh-CN" dirty="0"/>
              <a:t>v </a:t>
            </a:r>
            <a:r>
              <a:rPr lang="zh-CN" altLang="en-US" dirty="0"/>
              <a:t>一路乘上每个点的转移矩阵即可。这个初始向量的意思是假想有一个离 </a:t>
            </a:r>
            <a:r>
              <a:rPr lang="en-US" altLang="zh-CN" dirty="0"/>
              <a:t>u </a:t>
            </a:r>
            <a:r>
              <a:rPr lang="zh-CN" altLang="en-US" dirty="0"/>
              <a:t>距离 </a:t>
            </a:r>
            <a:r>
              <a:rPr lang="en-US" altLang="zh-CN" dirty="0"/>
              <a:t>3 </a:t>
            </a:r>
            <a:r>
              <a:rPr lang="zh-CN" altLang="en-US" dirty="0"/>
              <a:t>的点，然后第一步就只能跳 </a:t>
            </a:r>
            <a:r>
              <a:rPr lang="en-US" altLang="zh-CN" dirty="0"/>
              <a:t>3</a:t>
            </a:r>
            <a:r>
              <a:rPr lang="zh-CN" altLang="en-US" dirty="0"/>
              <a:t>，即从 </a:t>
            </a:r>
            <a:r>
              <a:rPr lang="en-US" altLang="zh-CN" dirty="0"/>
              <a:t>u </a:t>
            </a:r>
            <a:r>
              <a:rPr lang="zh-CN" altLang="en-US" dirty="0"/>
              <a:t>出发。                     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0981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99A63-933A-50C0-4F39-4670D2AC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P8820 [CSP-S 2022] 数据传输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5D8B8-58F9-F329-6384-8E33B1680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我们发现核心问题是我们牵扯的状态太多了。</a:t>
            </a:r>
            <a:endParaRPr lang="en-US" altLang="zh-CN" dirty="0"/>
          </a:p>
          <a:p>
            <a:r>
              <a:rPr lang="zh-CN" altLang="en-US" dirty="0"/>
              <a:t>于是我们计划减少状态数，观察到我们其实只关心上一个点到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的距离，而不太关心它的具体状态。</a:t>
            </a:r>
            <a:endParaRPr lang="en-US" altLang="zh-CN" dirty="0"/>
          </a:p>
          <a:p>
            <a:r>
              <a:rPr lang="zh-CN" altLang="en-US" dirty="0"/>
              <a:t>于是我们修改状态，记 </a:t>
            </a:r>
            <a:r>
              <a:rPr lang="en-US" altLang="zh-CN" dirty="0"/>
              <a:t>f_{i,0/1/2} </a:t>
            </a:r>
            <a:r>
              <a:rPr lang="zh-CN" altLang="en-US" dirty="0"/>
              <a:t>表示不超过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且到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距离距离为 </a:t>
            </a:r>
            <a:r>
              <a:rPr lang="en-US" altLang="zh-CN" dirty="0"/>
              <a:t>0/1/2 </a:t>
            </a:r>
            <a:r>
              <a:rPr lang="zh-CN" altLang="en-US" dirty="0"/>
              <a:t>的最小代价。转移如下：</a:t>
            </a:r>
            <a:endParaRPr lang="en-US" altLang="zh-CN" dirty="0"/>
          </a:p>
          <a:p>
            <a:r>
              <a:rPr lang="en-US" altLang="zh-CN" dirty="0"/>
              <a:t>1. f_{i,0}=min(f_{i-1,0},f_{i-1,1},f_{i-1,2})+</a:t>
            </a:r>
            <a:r>
              <a:rPr lang="en-US" altLang="zh-CN" dirty="0" err="1"/>
              <a:t>a_i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2. f_{i,1}=min(f_{i-1,0},f_{i-1,1}+</a:t>
            </a:r>
            <a:r>
              <a:rPr lang="en-US" altLang="zh-CN" dirty="0" err="1"/>
              <a:t>b_i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3. f_{i,2}=f_{i-1,1}.</a:t>
            </a:r>
          </a:p>
          <a:p>
            <a:r>
              <a:rPr lang="zh-CN" altLang="en-US" dirty="0"/>
              <a:t>这个矩阵是 </a:t>
            </a:r>
            <a:r>
              <a:rPr lang="en-US" altLang="zh-CN" dirty="0"/>
              <a:t>3*3 </a:t>
            </a:r>
            <a:r>
              <a:rPr lang="zh-CN" altLang="en-US" dirty="0"/>
              <a:t>的，就可以维护了。</a:t>
            </a:r>
          </a:p>
        </p:txBody>
      </p:sp>
    </p:spTree>
    <p:extLst>
      <p:ext uri="{BB962C8B-B14F-4D97-AF65-F5344CB8AC3E}">
        <p14:creationId xmlns:p14="http://schemas.microsoft.com/office/powerpoint/2010/main" val="4285619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E1D213-044A-6F52-58F0-4F550187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2058"/>
            <a:ext cx="11787695" cy="17561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BD737D1-0526-8D22-339D-2C676442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P8820 [CSP-S 2022] 数据传输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56A924-C2ED-D1F5-0A5C-A6276ED5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具体而言，现在转移变成了这样：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然后初始向量和之前的差不多，是                   。</a:t>
            </a:r>
            <a:endParaRPr lang="en-US" altLang="zh-CN" dirty="0"/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B152C1-E01E-937E-3352-5E1C35889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550" y="3868184"/>
            <a:ext cx="1583623" cy="40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82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84EBF-9B78-607A-57FE-AFF74394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C944E-B121-9507-DCDF-F71C4F6D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感谢倾听。</a:t>
            </a:r>
          </a:p>
        </p:txBody>
      </p:sp>
    </p:spTree>
    <p:extLst>
      <p:ext uri="{BB962C8B-B14F-4D97-AF65-F5344CB8AC3E}">
        <p14:creationId xmlns:p14="http://schemas.microsoft.com/office/powerpoint/2010/main" val="64692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1602</Words>
  <Application>Microsoft Office PowerPoint</Application>
  <PresentationFormat>宽屏</PresentationFormat>
  <Paragraphs>128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等线 Light</vt:lpstr>
      <vt:lpstr>华文楷体</vt:lpstr>
      <vt:lpstr>Arial</vt:lpstr>
      <vt:lpstr>Consolas</vt:lpstr>
      <vt:lpstr>Office 主题​​</vt:lpstr>
      <vt:lpstr>杂DP选讲</vt:lpstr>
      <vt:lpstr>计算几何</vt:lpstr>
      <vt:lpstr>P3829 [SHOI2012] 信用卡凸包</vt:lpstr>
      <vt:lpstr>P3829 [SHOI2012] 信用卡凸包</vt:lpstr>
      <vt:lpstr>P3260 [JLOI2014] 镜面通道</vt:lpstr>
      <vt:lpstr>P3260 [JLOI2014] 镜面通道</vt:lpstr>
      <vt:lpstr>P10651 [ROI 2017] 虎</vt:lpstr>
      <vt:lpstr>P10651 [ROI 2017] 虎</vt:lpstr>
      <vt:lpstr>决策单调性</vt:lpstr>
      <vt:lpstr>四边形不等式</vt:lpstr>
      <vt:lpstr>二分队列</vt:lpstr>
      <vt:lpstr>分治算法</vt:lpstr>
      <vt:lpstr>四边形不等式-二维</vt:lpstr>
      <vt:lpstr>P3515 [POI 2011] Lightning Conductor</vt:lpstr>
      <vt:lpstr>P3515 [POI 2011] Lightning Conductor</vt:lpstr>
      <vt:lpstr>P4767 [IOI 2000] 邮局 加强版</vt:lpstr>
      <vt:lpstr>CF868F Yet Another Minimization Problem</vt:lpstr>
      <vt:lpstr>CF868F Yet Another Minimization Problem</vt:lpstr>
      <vt:lpstr>WQS 二分</vt:lpstr>
      <vt:lpstr>P2619 [国家集训队] Tree I</vt:lpstr>
      <vt:lpstr>P2619 [国家集训队] Tree I</vt:lpstr>
      <vt:lpstr>P6246 [IOI 2000] 邮局 加强版 加强版</vt:lpstr>
      <vt:lpstr>P6246 [IOI 2000] 邮局 加强版 加强版</vt:lpstr>
      <vt:lpstr>Slope trick</vt:lpstr>
      <vt:lpstr>AT_dwango2016qual_e 花火</vt:lpstr>
      <vt:lpstr>AT_dwango2016qual_e 花火</vt:lpstr>
      <vt:lpstr>CF280E Sequence Transformation</vt:lpstr>
      <vt:lpstr>CF280E Sequence Transformation</vt:lpstr>
      <vt:lpstr>动态 DP</vt:lpstr>
      <vt:lpstr>P4719 【模板】动态 DP</vt:lpstr>
      <vt:lpstr>P8820 [CSP-S 2022] 数据传输</vt:lpstr>
      <vt:lpstr>P8820 [CSP-S 2022] 数据传输</vt:lpstr>
      <vt:lpstr>P8820 [CSP-S 2022] 数据传输</vt:lpstr>
      <vt:lpstr>P8820 [CSP-S 2022] 数据传输</vt:lpstr>
      <vt:lpstr>P8820 [CSP-S 2022] 数据传输</vt:lpstr>
      <vt:lpstr>以上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家红 张</dc:creator>
  <cp:lastModifiedBy>家红 张</cp:lastModifiedBy>
  <cp:revision>4</cp:revision>
  <dcterms:created xsi:type="dcterms:W3CDTF">2026-08-02T03:33:29Z</dcterms:created>
  <dcterms:modified xsi:type="dcterms:W3CDTF">2026-08-03T00:32:13Z</dcterms:modified>
</cp:coreProperties>
</file>